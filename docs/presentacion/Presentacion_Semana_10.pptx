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8a11a1b-65b2-90ca-76d5-ce6e65585a3e}">
          <p14:sldIdLst>
            <p14:sldId id="256"/>
            <p14:sldId id="257"/>
            <p14:sldId id="258"/>
            <p14:sldId id="259"/>
          </p14:sldIdLst>
        </p14:section>
        <p14:section name="Gabriel" id="{31f47c9b-c1b5-fa7f-e934-2bc89c56f1ab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avid" id="{1b9b8519-02da-81b8-e4c6-c879ee46a390}">
          <p14:sldIdLst>
            <p14:sldId id="266"/>
          </p14:sldIdLst>
        </p14:section>
        <p14:section name="Alex" id="{08bc1334-05ed-78bc-5b33-7cddb7471b43}">
          <p14:sldIdLst>
            <p14:sldId id="267"/>
          </p14:sldIdLst>
        </p14:section>
        <p14:section name="Marcelo" id="{0fdba017-b5d9-e3a0-f822-297c964540f1}">
          <p14:sldIdLst>
            <p14:sldId id="268"/>
          </p14:sldIdLst>
        </p14:section>
        <p14:section name="Emanuel" id="{8e34f5a2-b45e-be5e-16c6-285303e68494}">
          <p14:sldIdLst>
            <p14:sldId id="269"/>
          </p14:sldIdLst>
        </p14:section>
        <p14:section name="Cierre" id="{e5047416-e443-3db9-f1e9-19446bc6412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 abre la presentación y presenta al equipo. Cada integrante expone su parte del recorrido.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Supera el mínimo del curso: login, registrar, guardar en MySQL, consultar y modificar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src/componentes y src/api/cliente.js. Todas las pantallas llaman a la API por el mismo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crear un técnico de Soporte informático; intentar desactivar uno con casos pendientes (el botón Desactivar del diálogo queda bloqueado y el servidor responde 409).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desactivar Gasfitería, filtrar Desactivadas y reactivarla. Mostrar la pestaña Estados sin botón Desactivar.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corresponden a la última ejecución local (16/10/2026). Actualizarlas si cambian antes de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reservada para David. Reemplazar el recuadro punteado por una captura real y ajustar la lista a lo implementado.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reservada para Alex. Reemplazar el recuadro punteado por una captura real y ajustar la lista a lo implementado.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reservada para Marcelo. Reemplazar el recuadro punteado por una captura real y ajustar la lista a lo implementado.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reservada para Emanuel. Reemplazar el recuadro punteado por una captura real y ajustar la lista a lo implementado.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4"/>
                </a:solidFill>
              </a:rPr>
              <a:t>Mesa de Servicios · UNMSM — Presentación parcial, semana 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Mesa de servicios universitarios con plazos de atención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Presentación parcial · Fase II · Semana 10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Taller de Construcción de Software Web · UNMSM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David · Alex · Marcelo · Emanuel · Gabriel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 meta: un caso real de punta a punta</a:t>
            </a:r>
            <a:endParaRPr lang="en-US" sz="3600" dirty="0"/>
          </a:p>
        </p:txBody>
      </p:sp>
      <p:sp>
        <p:nvSpPr>
          <p:cNvPr id="3" name="paso-1"/>
          <p:cNvSpPr/>
          <p:nvPr/>
        </p:nvSpPr>
        <p:spPr>
          <a:xfrm>
            <a:off x="548640" y="16002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4" name="paso-1-circulo"/>
          <p:cNvSpPr/>
          <p:nvPr/>
        </p:nvSpPr>
        <p:spPr>
          <a:xfrm>
            <a:off x="1417320" y="1874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aso-1-icono" descr="/tmp/claude-1000/-home-emanuel-Descargas/f2f0b511-34ca-4a78-89e4-ce6984c8473f/scratchpad/deck/tmp/usu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080260"/>
            <a:ext cx="411480" cy="411480"/>
          </a:xfrm>
          <a:prstGeom prst="rect">
            <a:avLst/>
          </a:prstGeom>
        </p:spPr>
      </p:pic>
      <p:sp>
        <p:nvSpPr>
          <p:cNvPr id="6" name="paso-1-actor"/>
          <p:cNvSpPr txBox="1"/>
          <p:nvPr/>
        </p:nvSpPr>
        <p:spPr>
          <a:xfrm>
            <a:off x="6858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 Solicitante</a:t>
            </a:r>
            <a:endParaRPr lang="en-US" sz="2000" dirty="0"/>
          </a:p>
        </p:txBody>
      </p:sp>
      <p:sp>
        <p:nvSpPr>
          <p:cNvPr id="7" name="paso-1-texto"/>
          <p:cNvSpPr txBox="1"/>
          <p:nvPr/>
        </p:nvSpPr>
        <p:spPr>
          <a:xfrm>
            <a:off x="73152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Inicia sesión y registra la solicitud</a:t>
            </a:r>
            <a:endParaRPr lang="en-US" sz="1600" dirty="0"/>
          </a:p>
        </p:txBody>
      </p:sp>
      <p:sp>
        <p:nvSpPr>
          <p:cNvPr id="8" name="flecha-1"/>
          <p:cNvSpPr/>
          <p:nvPr/>
        </p:nvSpPr>
        <p:spPr>
          <a:xfrm>
            <a:off x="3136392" y="2971800"/>
            <a:ext cx="219456" cy="274320"/>
          </a:xfrm>
          <a:prstGeom prst="rightArrow">
            <a:avLst/>
          </a:prstGeom>
          <a:solidFill>
            <a:srgbClr val="B9C0CB"/>
          </a:solidFill>
          <a:ln w="12700">
            <a:solidFill>
              <a:srgbClr val="B9C0CB"/>
            </a:solidFill>
            <a:prstDash val="solid"/>
          </a:ln>
        </p:spPr>
      </p:sp>
      <p:sp>
        <p:nvSpPr>
          <p:cNvPr id="9" name="paso-2"/>
          <p:cNvSpPr/>
          <p:nvPr/>
        </p:nvSpPr>
        <p:spPr>
          <a:xfrm>
            <a:off x="3383280" y="16002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0" name="paso-2-circulo"/>
          <p:cNvSpPr/>
          <p:nvPr/>
        </p:nvSpPr>
        <p:spPr>
          <a:xfrm>
            <a:off x="4251960" y="187452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paso-2-icono" descr="/tmp/claude-1000/-home-emanuel-Descargas/f2f0b511-34ca-4a78-89e4-ce6984c8473f/scratchpad/deck/tmp/supervi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080260"/>
            <a:ext cx="411480" cy="411480"/>
          </a:xfrm>
          <a:prstGeom prst="rect">
            <a:avLst/>
          </a:prstGeom>
        </p:spPr>
      </p:pic>
      <p:sp>
        <p:nvSpPr>
          <p:cNvPr id="12" name="paso-2-actor"/>
          <p:cNvSpPr txBox="1"/>
          <p:nvPr/>
        </p:nvSpPr>
        <p:spPr>
          <a:xfrm>
            <a:off x="352044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2. Supervisor</a:t>
            </a:r>
            <a:endParaRPr lang="en-US" sz="2000" dirty="0"/>
          </a:p>
        </p:txBody>
      </p:sp>
      <p:sp>
        <p:nvSpPr>
          <p:cNvPr id="13" name="paso-2-texto"/>
          <p:cNvSpPr txBox="1"/>
          <p:nvPr/>
        </p:nvSpPr>
        <p:spPr>
          <a:xfrm>
            <a:off x="356616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Evalúa la prioridad y asigna un técnico</a:t>
            </a:r>
            <a:endParaRPr lang="en-US" sz="1600" dirty="0"/>
          </a:p>
        </p:txBody>
      </p:sp>
      <p:sp>
        <p:nvSpPr>
          <p:cNvPr id="14" name="flecha-2"/>
          <p:cNvSpPr/>
          <p:nvPr/>
        </p:nvSpPr>
        <p:spPr>
          <a:xfrm>
            <a:off x="5971032" y="2971800"/>
            <a:ext cx="219456" cy="274320"/>
          </a:xfrm>
          <a:prstGeom prst="rightArrow">
            <a:avLst/>
          </a:prstGeom>
          <a:solidFill>
            <a:srgbClr val="B9C0CB"/>
          </a:solidFill>
          <a:ln w="12700">
            <a:solidFill>
              <a:srgbClr val="B9C0CB"/>
            </a:solidFill>
            <a:prstDash val="solid"/>
          </a:ln>
        </p:spPr>
      </p:sp>
      <p:sp>
        <p:nvSpPr>
          <p:cNvPr id="15" name="paso-3"/>
          <p:cNvSpPr/>
          <p:nvPr/>
        </p:nvSpPr>
        <p:spPr>
          <a:xfrm>
            <a:off x="6217920" y="16002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6" name="paso-3-circulo"/>
          <p:cNvSpPr/>
          <p:nvPr/>
        </p:nvSpPr>
        <p:spPr>
          <a:xfrm>
            <a:off x="7086600" y="18745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paso-3-icono" descr="/tmp/claude-1000/-home-emanuel-Descargas/f2f0b511-34ca-4a78-89e4-ce6984c8473f/scratchpad/deck/tmp/tecni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080260"/>
            <a:ext cx="411480" cy="411480"/>
          </a:xfrm>
          <a:prstGeom prst="rect">
            <a:avLst/>
          </a:prstGeom>
        </p:spPr>
      </p:pic>
      <p:sp>
        <p:nvSpPr>
          <p:cNvPr id="18" name="paso-3-actor"/>
          <p:cNvSpPr txBox="1"/>
          <p:nvPr/>
        </p:nvSpPr>
        <p:spPr>
          <a:xfrm>
            <a:off x="63550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3. Técnico</a:t>
            </a:r>
            <a:endParaRPr lang="en-US" sz="2000" dirty="0"/>
          </a:p>
        </p:txBody>
      </p:sp>
      <p:sp>
        <p:nvSpPr>
          <p:cNvPr id="19" name="paso-3-texto"/>
          <p:cNvSpPr txBox="1"/>
          <p:nvPr/>
        </p:nvSpPr>
        <p:spPr>
          <a:xfrm>
            <a:off x="640080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Inicia la atención y registra la solución</a:t>
            </a:r>
            <a:endParaRPr lang="en-US" sz="1600" dirty="0"/>
          </a:p>
        </p:txBody>
      </p:sp>
      <p:sp>
        <p:nvSpPr>
          <p:cNvPr id="20" name="flecha-3"/>
          <p:cNvSpPr/>
          <p:nvPr/>
        </p:nvSpPr>
        <p:spPr>
          <a:xfrm>
            <a:off x="8805672" y="2971800"/>
            <a:ext cx="219456" cy="274320"/>
          </a:xfrm>
          <a:prstGeom prst="rightArrow">
            <a:avLst/>
          </a:prstGeom>
          <a:solidFill>
            <a:srgbClr val="B9C0CB"/>
          </a:solidFill>
          <a:ln w="12700">
            <a:solidFill>
              <a:srgbClr val="B9C0CB"/>
            </a:solidFill>
            <a:prstDash val="solid"/>
          </a:ln>
        </p:spPr>
      </p:sp>
      <p:sp>
        <p:nvSpPr>
          <p:cNvPr id="21" name="paso-4"/>
          <p:cNvSpPr/>
          <p:nvPr/>
        </p:nvSpPr>
        <p:spPr>
          <a:xfrm>
            <a:off x="9052560" y="160020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2" name="paso-4-circulo"/>
          <p:cNvSpPr/>
          <p:nvPr/>
        </p:nvSpPr>
        <p:spPr>
          <a:xfrm>
            <a:off x="9921240" y="1874520"/>
            <a:ext cx="822960" cy="8229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paso-4-icono" descr="/tmp/claude-1000/-home-emanuel-Descargas/f2f0b511-34ca-4a78-89e4-ce6984c8473f/scratchpad/deck/tmp/cier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2080260"/>
            <a:ext cx="411480" cy="411480"/>
          </a:xfrm>
          <a:prstGeom prst="rect">
            <a:avLst/>
          </a:prstGeom>
        </p:spPr>
      </p:pic>
      <p:sp>
        <p:nvSpPr>
          <p:cNvPr id="24" name="paso-4-actor"/>
          <p:cNvSpPr txBox="1"/>
          <p:nvPr/>
        </p:nvSpPr>
        <p:spPr>
          <a:xfrm>
            <a:off x="91897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4. Solicitante</a:t>
            </a:r>
            <a:endParaRPr lang="en-US" sz="2000" dirty="0"/>
          </a:p>
        </p:txBody>
      </p:sp>
      <p:sp>
        <p:nvSpPr>
          <p:cNvPr id="25" name="paso-4-texto"/>
          <p:cNvSpPr txBox="1"/>
          <p:nvPr/>
        </p:nvSpPr>
        <p:spPr>
          <a:xfrm>
            <a:off x="9235440" y="32918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Confirma el cierre o reabre en 72 horas</a:t>
            </a:r>
            <a:endParaRPr lang="en-US" sz="1600" dirty="0"/>
          </a:p>
        </p:txBody>
      </p:sp>
      <p:sp>
        <p:nvSpPr>
          <p:cNvPr id="26" name="pila"/>
          <p:cNvSpPr txBox="1"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React en el navegador · API en Spring Boot · datos en MySQL · todo levantado con Docker Compose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Arquitectura: tres capas y un backend modular</a:t>
            </a:r>
            <a:endParaRPr lang="en-US" sz="3600" dirty="0"/>
          </a:p>
        </p:txBody>
      </p:sp>
      <p:pic>
        <p:nvPicPr>
          <p:cNvPr id="3" name="diagrama-arquitectura" descr="Diagrama de arquitectura: React, Spring Boot por capas, MySQL y almacenamiento de evidenc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235032" cy="4846320"/>
          </a:xfrm>
          <a:prstGeom prst="rect">
            <a:avLst/>
          </a:prstGeom>
        </p:spPr>
      </p:pic>
      <p:sp>
        <p:nvSpPr>
          <p:cNvPr id="4" name="capas"/>
          <p:cNvSpPr txBox="1"/>
          <p:nvPr/>
        </p:nvSpPr>
        <p:spPr>
          <a:xfrm>
            <a:off x="7863840" y="1463040"/>
            <a:ext cx="3749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Frontend React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Layout por rol, componentes comunes y un solo cliente de API.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 Spring Boot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Controladores → DTO → servicios → repositorios → entidades, por módulo.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MySQL con Flyway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base se crea desde cero con las migraciones y los datos iniciales.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Cada integrante lleva una parte de punta a punta</a:t>
            </a:r>
            <a:endParaRPr lang="en-US" sz="3600" dirty="0"/>
          </a:p>
        </p:txBody>
      </p:sp>
      <p:sp>
        <p:nvSpPr>
          <p:cNvPr id="3" name="equipo-David"/>
          <p:cNvSpPr/>
          <p:nvPr/>
        </p:nvSpPr>
        <p:spPr>
          <a:xfrm>
            <a:off x="548640" y="1554480"/>
            <a:ext cx="2066544" cy="29260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4" name="equipo-David-nombre"/>
          <p:cNvSpPr txBox="1"/>
          <p:nvPr/>
        </p:nvSpPr>
        <p:spPr>
          <a:xfrm>
            <a:off x="685800" y="17373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David</a:t>
            </a:r>
            <a:endParaRPr lang="en-US" sz="2200" dirty="0"/>
          </a:p>
        </p:txBody>
      </p:sp>
      <p:sp>
        <p:nvSpPr>
          <p:cNvPr id="5" name="equipo-David-rol"/>
          <p:cNvSpPr txBox="1"/>
          <p:nvPr/>
        </p:nvSpPr>
        <p:spPr>
          <a:xfrm>
            <a:off x="685800" y="22402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Backend y seguridad</a:t>
            </a:r>
            <a:endParaRPr lang="en-US" sz="1500" dirty="0"/>
          </a:p>
        </p:txBody>
      </p:sp>
      <p:sp>
        <p:nvSpPr>
          <p:cNvPr id="6" name="equipo-David-epica"/>
          <p:cNvSpPr txBox="1"/>
          <p:nvPr/>
        </p:nvSpPr>
        <p:spPr>
          <a:xfrm>
            <a:off x="685800" y="27889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Registro, sesión con JWT, perfil (HU01–HU03)</a:t>
            </a:r>
            <a:endParaRPr lang="en-US" sz="1600" dirty="0"/>
          </a:p>
        </p:txBody>
      </p:sp>
      <p:sp>
        <p:nvSpPr>
          <p:cNvPr id="7" name="equipo-Alex"/>
          <p:cNvSpPr/>
          <p:nvPr/>
        </p:nvSpPr>
        <p:spPr>
          <a:xfrm>
            <a:off x="2798064" y="1554480"/>
            <a:ext cx="2066544" cy="29260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8" name="equipo-Alex-nombre"/>
          <p:cNvSpPr txBox="1"/>
          <p:nvPr/>
        </p:nvSpPr>
        <p:spPr>
          <a:xfrm>
            <a:off x="2935224" y="17373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Alex</a:t>
            </a:r>
            <a:endParaRPr lang="en-US" sz="2200" dirty="0"/>
          </a:p>
        </p:txBody>
      </p:sp>
      <p:sp>
        <p:nvSpPr>
          <p:cNvPr id="9" name="equipo-Alex-rol"/>
          <p:cNvSpPr txBox="1"/>
          <p:nvPr/>
        </p:nvSpPr>
        <p:spPr>
          <a:xfrm>
            <a:off x="2935224" y="22402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DevOps</a:t>
            </a:r>
            <a:endParaRPr lang="en-US" sz="1500" dirty="0"/>
          </a:p>
        </p:txBody>
      </p:sp>
      <p:sp>
        <p:nvSpPr>
          <p:cNvPr id="10" name="equipo-Alex-epica"/>
          <p:cNvSpPr txBox="1"/>
          <p:nvPr/>
        </p:nvSpPr>
        <p:spPr>
          <a:xfrm>
            <a:off x="2935224" y="27889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Registro y seguimiento de solicitudes (HU04–HU06)</a:t>
            </a:r>
            <a:endParaRPr lang="en-US" sz="1600" dirty="0"/>
          </a:p>
        </p:txBody>
      </p:sp>
      <p:sp>
        <p:nvSpPr>
          <p:cNvPr id="11" name="equipo-Marcelo"/>
          <p:cNvSpPr/>
          <p:nvPr/>
        </p:nvSpPr>
        <p:spPr>
          <a:xfrm>
            <a:off x="5047488" y="1554480"/>
            <a:ext cx="2066544" cy="29260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2" name="equipo-Marcelo-nombre"/>
          <p:cNvSpPr txBox="1"/>
          <p:nvPr/>
        </p:nvSpPr>
        <p:spPr>
          <a:xfrm>
            <a:off x="5184648" y="17373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Marcelo</a:t>
            </a:r>
            <a:endParaRPr lang="en-US" sz="2200" dirty="0"/>
          </a:p>
        </p:txBody>
      </p:sp>
      <p:sp>
        <p:nvSpPr>
          <p:cNvPr id="13" name="equipo-Marcelo-rol"/>
          <p:cNvSpPr txBox="1"/>
          <p:nvPr/>
        </p:nvSpPr>
        <p:spPr>
          <a:xfrm>
            <a:off x="5184648" y="22402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Modelo de datos</a:t>
            </a:r>
            <a:endParaRPr lang="en-US" sz="1500" dirty="0"/>
          </a:p>
        </p:txBody>
      </p:sp>
      <p:sp>
        <p:nvSpPr>
          <p:cNvPr id="14" name="equipo-Marcelo-epica"/>
          <p:cNvSpPr txBox="1"/>
          <p:nvPr/>
        </p:nvSpPr>
        <p:spPr>
          <a:xfrm>
            <a:off x="5184648" y="27889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Plazos, evaluación y asignación (HU07–HU09, HU14)</a:t>
            </a:r>
            <a:endParaRPr lang="en-US" sz="1600" dirty="0"/>
          </a:p>
        </p:txBody>
      </p:sp>
      <p:sp>
        <p:nvSpPr>
          <p:cNvPr id="15" name="equipo-Emanuel"/>
          <p:cNvSpPr/>
          <p:nvPr/>
        </p:nvSpPr>
        <p:spPr>
          <a:xfrm>
            <a:off x="7296912" y="1554480"/>
            <a:ext cx="2066544" cy="29260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6" name="equipo-Emanuel-nombre"/>
          <p:cNvSpPr txBox="1"/>
          <p:nvPr/>
        </p:nvSpPr>
        <p:spPr>
          <a:xfrm>
            <a:off x="7434072" y="17373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Emanuel</a:t>
            </a:r>
            <a:endParaRPr lang="en-US" sz="2200" dirty="0"/>
          </a:p>
        </p:txBody>
      </p:sp>
      <p:sp>
        <p:nvSpPr>
          <p:cNvPr id="17" name="equipo-Emanuel-rol"/>
          <p:cNvSpPr txBox="1"/>
          <p:nvPr/>
        </p:nvSpPr>
        <p:spPr>
          <a:xfrm>
            <a:off x="7434072" y="22402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Calidad</a:t>
            </a:r>
            <a:endParaRPr lang="en-US" sz="1500" dirty="0"/>
          </a:p>
        </p:txBody>
      </p:sp>
      <p:sp>
        <p:nvSpPr>
          <p:cNvPr id="18" name="equipo-Emanuel-epica"/>
          <p:cNvSpPr txBox="1"/>
          <p:nvPr/>
        </p:nvSpPr>
        <p:spPr>
          <a:xfrm>
            <a:off x="7434072" y="27889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Atención, conformidad e historial (HU10–HU12, HU23)</a:t>
            </a:r>
            <a:endParaRPr lang="en-US" sz="1600" dirty="0"/>
          </a:p>
        </p:txBody>
      </p:sp>
      <p:sp>
        <p:nvSpPr>
          <p:cNvPr id="19" name="equipo-Gabriel"/>
          <p:cNvSpPr/>
          <p:nvPr/>
        </p:nvSpPr>
        <p:spPr>
          <a:xfrm>
            <a:off x="9546336" y="1554480"/>
            <a:ext cx="2066544" cy="29260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0" name="equipo-Gabriel-nombre"/>
          <p:cNvSpPr txBox="1"/>
          <p:nvPr/>
        </p:nvSpPr>
        <p:spPr>
          <a:xfrm>
            <a:off x="9683496" y="17373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Gabriel</a:t>
            </a:r>
            <a:endParaRPr lang="en-US" sz="2200" dirty="0"/>
          </a:p>
        </p:txBody>
      </p:sp>
      <p:sp>
        <p:nvSpPr>
          <p:cNvPr id="21" name="equipo-Gabriel-rol"/>
          <p:cNvSpPr txBox="1"/>
          <p:nvPr/>
        </p:nvSpPr>
        <p:spPr>
          <a:xfrm>
            <a:off x="9683496" y="22402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Frontend</a:t>
            </a:r>
            <a:endParaRPr lang="en-US" sz="1500" dirty="0"/>
          </a:p>
        </p:txBody>
      </p:sp>
      <p:sp>
        <p:nvSpPr>
          <p:cNvPr id="22" name="equipo-Gabriel-epica"/>
          <p:cNvSpPr txBox="1"/>
          <p:nvPr/>
        </p:nvSpPr>
        <p:spPr>
          <a:xfrm>
            <a:off x="9683496" y="2788920"/>
            <a:ext cx="17922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 React y administración (HU20, HU21)</a:t>
            </a:r>
            <a:endParaRPr lang="en-US" sz="1600" dirty="0"/>
          </a:p>
        </p:txBody>
      </p:sp>
      <p:sp>
        <p:nvSpPr>
          <p:cNvPr id="23" name="reglas"/>
          <p:cNvSpPr txBox="1"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Reglas del equipo: contrato en OpenAPI antes de conectar React, una rama por historia y revisión de otro integrante en cada pull request.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Base del frontend y administración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Gabriel · GB01 a GB08 · HU20 y HU21 · pantallas P11 y P12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Una base común para las doce pantallas</a:t>
            </a:r>
            <a:endParaRPr lang="en-US" sz="3600" dirty="0"/>
          </a:p>
        </p:txBody>
      </p:sp>
      <p:sp>
        <p:nvSpPr>
          <p:cNvPr id="3" name="base-GB01"/>
          <p:cNvSpPr/>
          <p:nvPr/>
        </p:nvSpPr>
        <p:spPr>
          <a:xfrm>
            <a:off x="548640" y="155448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4" name="base-GB01-circulo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ase-GB01-icono" descr="/tmp/claude-1000/-home-emanuel-Descargas/f2f0b511-34ca-4a78-89e4-ce6984c8473f/scratchpad/deck/tmp/lay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23110"/>
            <a:ext cx="388620" cy="388620"/>
          </a:xfrm>
          <a:prstGeom prst="rect">
            <a:avLst/>
          </a:prstGeom>
        </p:spPr>
      </p:pic>
      <p:sp>
        <p:nvSpPr>
          <p:cNvPr id="6" name="base-GB01-titulo"/>
          <p:cNvSpPr txBox="1"/>
          <p:nvPr/>
        </p:nvSpPr>
        <p:spPr>
          <a:xfrm>
            <a:off x="173736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Layout por rol</a:t>
            </a:r>
            <a:endParaRPr lang="en-US" sz="2100" dirty="0"/>
          </a:p>
        </p:txBody>
      </p:sp>
      <p:sp>
        <p:nvSpPr>
          <p:cNvPr id="7" name="base-GB01-id"/>
          <p:cNvSpPr txBox="1"/>
          <p:nvPr/>
        </p:nvSpPr>
        <p:spPr>
          <a:xfrm>
            <a:off x="1737360" y="2240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GB01</a:t>
            </a:r>
            <a:endParaRPr lang="en-US" sz="1400" dirty="0"/>
          </a:p>
        </p:txBody>
      </p:sp>
      <p:sp>
        <p:nvSpPr>
          <p:cNvPr id="8" name="base-GB01-texto"/>
          <p:cNvSpPr txBox="1"/>
          <p:nvPr/>
        </p:nvSpPr>
        <p:spPr>
          <a:xfrm>
            <a:off x="822960" y="28803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Menú según el rol, rutas protegidas y diseño responsive de 360 a 1366 px.</a:t>
            </a:r>
            <a:endParaRPr lang="en-US" sz="1600" dirty="0"/>
          </a:p>
        </p:txBody>
      </p:sp>
      <p:sp>
        <p:nvSpPr>
          <p:cNvPr id="9" name="base-GB02"/>
          <p:cNvSpPr/>
          <p:nvPr/>
        </p:nvSpPr>
        <p:spPr>
          <a:xfrm>
            <a:off x="4297680" y="155448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0" name="base-GB02-circulo"/>
          <p:cNvSpPr/>
          <p:nvPr/>
        </p:nvSpPr>
        <p:spPr>
          <a:xfrm>
            <a:off x="4572000" y="18288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base-GB02-icono" descr="/tmp/claude-1000/-home-emanuel-Descargas/f2f0b511-34ca-4a78-89e4-ce6984c8473f/scratchpad/deck/tmp/piez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2023110"/>
            <a:ext cx="388620" cy="388620"/>
          </a:xfrm>
          <a:prstGeom prst="rect">
            <a:avLst/>
          </a:prstGeom>
        </p:spPr>
      </p:pic>
      <p:sp>
        <p:nvSpPr>
          <p:cNvPr id="12" name="base-GB02-titulo"/>
          <p:cNvSpPr txBox="1"/>
          <p:nvPr/>
        </p:nvSpPr>
        <p:spPr>
          <a:xfrm>
            <a:off x="548640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Componentes</a:t>
            </a:r>
            <a:endParaRPr lang="en-US" sz="2100" dirty="0"/>
          </a:p>
        </p:txBody>
      </p:sp>
      <p:sp>
        <p:nvSpPr>
          <p:cNvPr id="13" name="base-GB02-id"/>
          <p:cNvSpPr txBox="1"/>
          <p:nvPr/>
        </p:nvSpPr>
        <p:spPr>
          <a:xfrm>
            <a:off x="5486400" y="2240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GB02</a:t>
            </a:r>
            <a:endParaRPr lang="en-US" sz="1400" dirty="0"/>
          </a:p>
        </p:txBody>
      </p:sp>
      <p:sp>
        <p:nvSpPr>
          <p:cNvPr id="14" name="base-GB02-texto"/>
          <p:cNvSpPr txBox="1"/>
          <p:nvPr/>
        </p:nvSpPr>
        <p:spPr>
          <a:xfrm>
            <a:off x="4572000" y="28803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Campo con error, tabla, paginación, etiquetas de estado y prioridad, mensajes y confirmación.</a:t>
            </a:r>
            <a:endParaRPr lang="en-US" sz="1600" dirty="0"/>
          </a:p>
        </p:txBody>
      </p:sp>
      <p:sp>
        <p:nvSpPr>
          <p:cNvPr id="15" name="base-GB03"/>
          <p:cNvSpPr/>
          <p:nvPr/>
        </p:nvSpPr>
        <p:spPr>
          <a:xfrm>
            <a:off x="8046720" y="155448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6" name="base-GB03-circulo"/>
          <p:cNvSpPr/>
          <p:nvPr/>
        </p:nvSpPr>
        <p:spPr>
          <a:xfrm>
            <a:off x="8321040" y="182880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base-GB03-icono" descr="/tmp/claude-1000/-home-emanuel-Descargas/f2f0b511-34ca-4a78-89e4-ce6984c8473f/scratchpad/deck/tmp/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2023110"/>
            <a:ext cx="388620" cy="388620"/>
          </a:xfrm>
          <a:prstGeom prst="rect">
            <a:avLst/>
          </a:prstGeom>
        </p:spPr>
      </p:pic>
      <p:sp>
        <p:nvSpPr>
          <p:cNvPr id="18" name="base-GB03-titulo"/>
          <p:cNvSpPr txBox="1"/>
          <p:nvPr/>
        </p:nvSpPr>
        <p:spPr>
          <a:xfrm>
            <a:off x="9235440" y="18288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Cliente de API</a:t>
            </a:r>
            <a:endParaRPr lang="en-US" sz="2100" dirty="0"/>
          </a:p>
        </p:txBody>
      </p:sp>
      <p:sp>
        <p:nvSpPr>
          <p:cNvPr id="19" name="base-GB03-id"/>
          <p:cNvSpPr txBox="1"/>
          <p:nvPr/>
        </p:nvSpPr>
        <p:spPr>
          <a:xfrm>
            <a:off x="9235440" y="2240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GB03</a:t>
            </a:r>
            <a:endParaRPr lang="en-US" sz="1400" dirty="0"/>
          </a:p>
        </p:txBody>
      </p:sp>
      <p:sp>
        <p:nvSpPr>
          <p:cNvPr id="20" name="base-GB03-texto"/>
          <p:cNvSpPr txBox="1"/>
          <p:nvPr/>
        </p:nvSpPr>
        <p:spPr>
          <a:xfrm>
            <a:off x="8321040" y="288036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fetch con cookie de sesión, token CSRF y errores 401, 403 y 409 en un formato común.</a:t>
            </a:r>
            <a:endParaRPr lang="en-US" sz="1600" dirty="0"/>
          </a:p>
        </p:txBody>
      </p:sp>
      <p:sp>
        <p:nvSpPr>
          <p:cNvPr id="21" name="base-nota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Los demás integrantes los usan con props, sin copiar código.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P11 Usuarios: cuentas internas bajo control</a:t>
            </a:r>
            <a:endParaRPr lang="en-US" sz="3600" dirty="0"/>
          </a:p>
        </p:txBody>
      </p:sp>
      <p:pic>
        <p:nvPicPr>
          <p:cNvPr id="3" name="captura-p11" descr="Pantalla P11 con la lista de cuentas inter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4480560"/>
          </a:xfrm>
          <a:prstGeom prst="rect">
            <a:avLst/>
          </a:prstGeom>
        </p:spPr>
      </p:pic>
      <p:sp>
        <p:nvSpPr>
          <p:cNvPr id="4" name="p11-0"/>
          <p:cNvSpPr/>
          <p:nvPr/>
        </p:nvSpPr>
        <p:spPr>
          <a:xfrm>
            <a:off x="7635240" y="1325880"/>
            <a:ext cx="397764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" name="p11-0-titulo"/>
          <p:cNvSpPr txBox="1"/>
          <p:nvPr/>
        </p:nvSpPr>
        <p:spPr>
          <a:xfrm>
            <a:off x="7818120" y="14356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HU20 · BDD 1</a:t>
            </a:r>
            <a:endParaRPr lang="en-US" sz="1600" dirty="0"/>
          </a:p>
        </p:txBody>
      </p:sp>
      <p:sp>
        <p:nvSpPr>
          <p:cNvPr id="6" name="p11-0-texto"/>
          <p:cNvSpPr txBox="1"/>
          <p:nvPr/>
        </p:nvSpPr>
        <p:spPr>
          <a:xfrm>
            <a:off x="7818120" y="18013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técnico nuevo queda vinculado a un área activa y ya puede recibir asignaciones.</a:t>
            </a:r>
            <a:endParaRPr lang="en-US" sz="1400" dirty="0"/>
          </a:p>
        </p:txBody>
      </p:sp>
      <p:sp>
        <p:nvSpPr>
          <p:cNvPr id="7" name="p11-1"/>
          <p:cNvSpPr/>
          <p:nvPr/>
        </p:nvSpPr>
        <p:spPr>
          <a:xfrm>
            <a:off x="7635240" y="2807208"/>
            <a:ext cx="397764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8" name="p11-1-titulo"/>
          <p:cNvSpPr txBox="1"/>
          <p:nvPr/>
        </p:nvSpPr>
        <p:spPr>
          <a:xfrm>
            <a:off x="7818120" y="291693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HU20 · BDD 2</a:t>
            </a:r>
            <a:endParaRPr lang="en-US" sz="1600" dirty="0"/>
          </a:p>
        </p:txBody>
      </p:sp>
      <p:sp>
        <p:nvSpPr>
          <p:cNvPr id="9" name="p11-1-texto"/>
          <p:cNvSpPr txBox="1"/>
          <p:nvPr/>
        </p:nvSpPr>
        <p:spPr>
          <a:xfrm>
            <a:off x="7818120" y="3282696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tiene casos pendientes, no se desactiva: primero se reasignan.</a:t>
            </a:r>
            <a:endParaRPr lang="en-US" sz="1400" dirty="0"/>
          </a:p>
        </p:txBody>
      </p:sp>
      <p:sp>
        <p:nvSpPr>
          <p:cNvPr id="10" name="p11-2"/>
          <p:cNvSpPr/>
          <p:nvPr/>
        </p:nvSpPr>
        <p:spPr>
          <a:xfrm>
            <a:off x="7635240" y="4288536"/>
            <a:ext cx="397764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11" name="p11-2-titulo"/>
          <p:cNvSpPr txBox="1"/>
          <p:nvPr/>
        </p:nvSpPr>
        <p:spPr>
          <a:xfrm>
            <a:off x="7818120" y="439826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Sesión revocada</a:t>
            </a:r>
            <a:endParaRPr lang="en-US" sz="1600" dirty="0"/>
          </a:p>
        </p:txBody>
      </p:sp>
      <p:sp>
        <p:nvSpPr>
          <p:cNvPr id="12" name="p11-2-texto"/>
          <p:cNvSpPr txBox="1"/>
          <p:nvPr/>
        </p:nvSpPr>
        <p:spPr>
          <a:xfrm>
            <a:off x="7818120" y="4764024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Cambiar el rol o desactivar cierra la sesión que el usuario tenía abierta.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P12 Configuración: desactivar sin borrar la historia</a:t>
            </a:r>
            <a:endParaRPr lang="en-US" sz="3600" dirty="0"/>
          </a:p>
        </p:txBody>
      </p:sp>
      <p:pic>
        <p:nvPicPr>
          <p:cNvPr id="3" name="captura-p12" descr="Pantalla P12 con una categoría desactiv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4480560"/>
          </a:xfrm>
          <a:prstGeom prst="rect">
            <a:avLst/>
          </a:prstGeom>
        </p:spPr>
      </p:pic>
      <p:sp>
        <p:nvSpPr>
          <p:cNvPr id="4" name="p12-puntos"/>
          <p:cNvSpPr txBox="1"/>
          <p:nvPr/>
        </p:nvSpPr>
        <p:spPr>
          <a:xfrm>
            <a:off x="7635240" y="1371600"/>
            <a:ext cx="39776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CRUD completo de catálogos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GET, POST, PUT y DELETE sobre áreas, categorías y ubicaciones.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DELETE es desactivación lógica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opción deja de ofrecerse en altas y sigue visible en casos anteriores.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Estados y prioridades fijos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Solo cambia su nombre visible; eliminarlos responde 409.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Sesión segura y verificada con pruebas</a:t>
            </a:r>
            <a:endParaRPr lang="en-US" sz="3600" dirty="0"/>
          </a:p>
        </p:txBody>
      </p:sp>
      <p:sp>
        <p:nvSpPr>
          <p:cNvPr id="3" name="seguridad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4" name="seguridad-cookie-circulo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eguridad-cookie-icono" descr="/tmp/claude-1000/-home-emanuel-Descargas/f2f0b511-34ca-4a78-89e4-ce6984c8473f/scratchpad/deck/tmp/cand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seguridad-cookie-texto"/>
          <p:cNvSpPr txBox="1"/>
          <p:nvPr/>
        </p:nvSpPr>
        <p:spPr>
          <a:xfrm>
            <a:off x="1737360" y="1691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Cookie de sesión HttpOnly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JavaScript no puede leerla (verificado en el navegador).</a:t>
            </a:r>
            <a:endParaRPr lang="en-US" sz="1500" dirty="0"/>
          </a:p>
        </p:txBody>
      </p:sp>
      <p:sp>
        <p:nvSpPr>
          <p:cNvPr id="7" name="seguridad-csrf-circulo"/>
          <p:cNvSpPr/>
          <p:nvPr/>
        </p:nvSpPr>
        <p:spPr>
          <a:xfrm>
            <a:off x="82296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seguridad-csrf-icono" descr="/tmp/claude-1000/-home-emanuel-Descargas/f2f0b511-34ca-4a78-89e4-ce6984c8473f/scratchpad/deck/tmp/escu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63240"/>
            <a:ext cx="365760" cy="365760"/>
          </a:xfrm>
          <a:prstGeom prst="rect">
            <a:avLst/>
          </a:prstGeom>
        </p:spPr>
      </p:pic>
      <p:sp>
        <p:nvSpPr>
          <p:cNvPr id="9" name="seguridad-csrf-texto"/>
          <p:cNvSpPr txBox="1"/>
          <p:nvPr/>
        </p:nvSpPr>
        <p:spPr>
          <a:xfrm>
            <a:off x="1737360" y="2834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Token CSRF en cada escritura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Cookie XSRF-TOKEN y cabecera X-XSRF-TOKEN; sin token, 403.</a:t>
            </a:r>
            <a:endParaRPr lang="en-US" sz="1500" dirty="0"/>
          </a:p>
        </p:txBody>
      </p:sp>
      <p:sp>
        <p:nvSpPr>
          <p:cNvPr id="10" name="seguridad-errores-circulo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seguridad-errores-icono" descr="/tmp/claude-1000/-home-emanuel-Descargas/f2f0b511-34ca-4a78-89e4-ce6984c8473f/scratchpad/deck/tmp/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06240"/>
            <a:ext cx="365760" cy="365760"/>
          </a:xfrm>
          <a:prstGeom prst="rect">
            <a:avLst/>
          </a:prstGeom>
        </p:spPr>
      </p:pic>
      <p:sp>
        <p:nvSpPr>
          <p:cNvPr id="12" name="seguridad-errores-texto"/>
          <p:cNvSpPr txBox="1"/>
          <p:nvPr/>
        </p:nvSpPr>
        <p:spPr>
          <a:xfrm>
            <a:off x="1737360" y="39776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Errores con formato común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Código, mensaje, errores por campo e identificador de correlación.</a:t>
            </a:r>
            <a:endParaRPr lang="en-US" sz="1500" dirty="0"/>
          </a:p>
        </p:txBody>
      </p:sp>
      <p:sp>
        <p:nvSpPr>
          <p:cNvPr id="13" name="cifra-0"/>
          <p:cNvSpPr txBox="1"/>
          <p:nvPr/>
        </p:nvSpPr>
        <p:spPr>
          <a:xfrm>
            <a:off x="6400800" y="146304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23</a:t>
            </a:r>
            <a:endParaRPr lang="en-US" sz="6000" dirty="0"/>
          </a:p>
        </p:txBody>
      </p:sp>
      <p:sp>
        <p:nvSpPr>
          <p:cNvPr id="14" name="cifra-0-texto"/>
          <p:cNvSpPr txBox="1"/>
          <p:nvPr/>
        </p:nvSpPr>
        <p:spPr>
          <a:xfrm>
            <a:off x="8046720" y="16002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pruebas del backend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JUnit con las migraciones reales</a:t>
            </a:r>
            <a:endParaRPr lang="en-US" sz="1600" dirty="0"/>
          </a:p>
        </p:txBody>
      </p:sp>
      <p:sp>
        <p:nvSpPr>
          <p:cNvPr id="15" name="cifra-1"/>
          <p:cNvSpPr txBox="1"/>
          <p:nvPr/>
        </p:nvSpPr>
        <p:spPr>
          <a:xfrm>
            <a:off x="6400800" y="292608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30</a:t>
            </a:r>
            <a:endParaRPr lang="en-US" sz="6000" dirty="0"/>
          </a:p>
        </p:txBody>
      </p:sp>
      <p:sp>
        <p:nvSpPr>
          <p:cNvPr id="16" name="cifra-1-texto"/>
          <p:cNvSpPr txBox="1"/>
          <p:nvPr/>
        </p:nvSpPr>
        <p:spPr>
          <a:xfrm>
            <a:off x="8046720" y="3063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pruebas del frontend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Vitest y Testing Library</a:t>
            </a:r>
            <a:endParaRPr lang="en-US" sz="1600" dirty="0"/>
          </a:p>
        </p:txBody>
      </p:sp>
      <p:sp>
        <p:nvSpPr>
          <p:cNvPr id="17" name="cifra-2"/>
          <p:cNvSpPr txBox="1"/>
          <p:nvPr/>
        </p:nvSpPr>
        <p:spPr>
          <a:xfrm>
            <a:off x="6400800" y="43891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11</a:t>
            </a:r>
            <a:endParaRPr lang="en-US" sz="6000" dirty="0"/>
          </a:p>
        </p:txBody>
      </p:sp>
      <p:sp>
        <p:nvSpPr>
          <p:cNvPr id="18" name="cifra-2-texto"/>
          <p:cNvSpPr txBox="1"/>
          <p:nvPr/>
        </p:nvSpPr>
        <p:spPr>
          <a:xfrm>
            <a:off x="8046720" y="4526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pasos en navegador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Contra MySQL 8 real, a 1366 y 360 px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 misma pantalla en escritorio y en el celular</a:t>
            </a:r>
            <a:endParaRPr lang="en-US" sz="3600" dirty="0"/>
          </a:p>
        </p:txBody>
      </p:sp>
      <p:pic>
        <p:nvPicPr>
          <p:cNvPr id="3" name="captura-escritorio" descr="P12 en escritorio, 1366 p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4480560"/>
          </a:xfrm>
          <a:prstGeom prst="rect">
            <a:avLst/>
          </a:prstGeom>
        </p:spPr>
      </p:pic>
      <p:pic>
        <p:nvPicPr>
          <p:cNvPr id="4" name="captura-movil" descr="P11 en móvil, 360 p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122371" cy="4480560"/>
          </a:xfrm>
          <a:prstGeom prst="rect">
            <a:avLst/>
          </a:prstGeom>
        </p:spPr>
      </p:pic>
      <p:sp>
        <p:nvSpPr>
          <p:cNvPr id="5" name="pie-escritorio"/>
          <p:cNvSpPr txBox="1"/>
          <p:nvPr/>
        </p:nvSpPr>
        <p:spPr>
          <a:xfrm>
            <a:off x="548640" y="58978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1366 px: barra lateral y tarjetas de catálogo</a:t>
            </a:r>
            <a:endParaRPr lang="en-US" sz="1400" dirty="0"/>
          </a:p>
        </p:txBody>
      </p:sp>
      <p:sp>
        <p:nvSpPr>
          <p:cNvPr id="6" name="pie-movil"/>
          <p:cNvSpPr txBox="1"/>
          <p:nvPr/>
        </p:nvSpPr>
        <p:spPr>
          <a:xfrm>
            <a:off x="8229600" y="5897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360 px: navegación inferior y tarjetas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David · Identidad y seguridad</a:t>
            </a:r>
            <a:endParaRPr lang="en-US" sz="3600" dirty="0"/>
          </a:p>
        </p:txBody>
      </p:sp>
      <p:sp>
        <p:nvSpPr>
          <p:cNvPr id="3" name="David-espacio-captura"/>
          <p:cNvSpPr/>
          <p:nvPr/>
        </p:nvSpPr>
        <p:spPr>
          <a:xfrm>
            <a:off x="548640" y="13716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 w="15875">
            <a:solidFill>
              <a:srgbClr val="9AA3B2"/>
            </a:solidFill>
            <a:prstDash val="dash"/>
          </a:ln>
        </p:spPr>
      </p:sp>
      <p:pic>
        <p:nvPicPr>
          <p:cNvPr id="4" name="David-icono-captura" descr="/tmp/claude-1000/-home-emanuel-Descargas/f2f0b511-34ca-4a78-89e4-ce6984c8473f/scratchpad/deck/tmp/cam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926080"/>
            <a:ext cx="822960" cy="822960"/>
          </a:xfrm>
          <a:prstGeom prst="rect">
            <a:avLst/>
          </a:prstGeom>
        </p:spPr>
      </p:pic>
      <p:sp>
        <p:nvSpPr>
          <p:cNvPr id="5" name="David-texto-captura"/>
          <p:cNvSpPr txBox="1"/>
          <p:nvPr/>
        </p:nvSpPr>
        <p:spPr>
          <a:xfrm>
            <a:off x="822960" y="38862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Captura de la pantalla en funcionamiento (la agrega David)</a:t>
            </a:r>
            <a:endParaRPr lang="en-US" sz="1400" dirty="0"/>
          </a:p>
        </p:txBody>
      </p:sp>
      <p:sp>
        <p:nvSpPr>
          <p:cNvPr id="6" name="David-titulo-lista"/>
          <p:cNvSpPr txBox="1"/>
          <p:nvPr/>
        </p:nvSpPr>
        <p:spPr>
          <a:xfrm>
            <a:off x="7635240" y="1371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Qué mostrar</a:t>
            </a:r>
            <a:endParaRPr lang="en-US" sz="2000" dirty="0"/>
          </a:p>
        </p:txBody>
      </p:sp>
      <p:sp>
        <p:nvSpPr>
          <p:cNvPr id="7" name="David-lista"/>
          <p:cNvSpPr txBox="1"/>
          <p:nvPr/>
        </p:nvSpPr>
        <p:spPr>
          <a:xfrm>
            <a:off x="7635240" y="1874520"/>
            <a:ext cx="3977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P01 Registro, P02 Inicio de sesión y P03 Perfil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HU01–HU03 con sus escenarios BDD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Login con JWT en cookie HttpOnly y CSRF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Captura de Swagger con las rutas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Alex · Registro y seguimiento de solicitudes</a:t>
            </a:r>
            <a:endParaRPr lang="en-US" sz="3600" dirty="0"/>
          </a:p>
        </p:txBody>
      </p:sp>
      <p:sp>
        <p:nvSpPr>
          <p:cNvPr id="3" name="Alex-espacio-captura"/>
          <p:cNvSpPr/>
          <p:nvPr/>
        </p:nvSpPr>
        <p:spPr>
          <a:xfrm>
            <a:off x="548640" y="13716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 w="15875">
            <a:solidFill>
              <a:srgbClr val="9AA3B2"/>
            </a:solidFill>
            <a:prstDash val="dash"/>
          </a:ln>
        </p:spPr>
      </p:sp>
      <p:pic>
        <p:nvPicPr>
          <p:cNvPr id="4" name="Alex-icono-captura" descr="/tmp/claude-1000/-home-emanuel-Descargas/f2f0b511-34ca-4a78-89e4-ce6984c8473f/scratchpad/deck/tmp/cam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926080"/>
            <a:ext cx="822960" cy="822960"/>
          </a:xfrm>
          <a:prstGeom prst="rect">
            <a:avLst/>
          </a:prstGeom>
        </p:spPr>
      </p:pic>
      <p:sp>
        <p:nvSpPr>
          <p:cNvPr id="5" name="Alex-texto-captura"/>
          <p:cNvSpPr txBox="1"/>
          <p:nvPr/>
        </p:nvSpPr>
        <p:spPr>
          <a:xfrm>
            <a:off x="822960" y="38862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Captura de la pantalla en funcionamiento (la agrega Alex)</a:t>
            </a:r>
            <a:endParaRPr lang="en-US" sz="1400" dirty="0"/>
          </a:p>
        </p:txBody>
      </p:sp>
      <p:sp>
        <p:nvSpPr>
          <p:cNvPr id="6" name="Alex-titulo-lista"/>
          <p:cNvSpPr txBox="1"/>
          <p:nvPr/>
        </p:nvSpPr>
        <p:spPr>
          <a:xfrm>
            <a:off x="7635240" y="1371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Qué mostrar</a:t>
            </a:r>
            <a:endParaRPr lang="en-US" sz="2000" dirty="0"/>
          </a:p>
        </p:txBody>
      </p:sp>
      <p:sp>
        <p:nvSpPr>
          <p:cNvPr id="7" name="Alex-lista"/>
          <p:cNvSpPr txBox="1"/>
          <p:nvPr/>
        </p:nvSpPr>
        <p:spPr>
          <a:xfrm>
            <a:off x="7635240" y="1874520"/>
            <a:ext cx="3977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P04 Nueva solicitud y P05 Mis solicitudes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Código MSU, prioridad inicial y plazos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Filtros guardados en LocalStorage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Docker Compose y pipeline de GitHub Actions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Marcelo · Evaluación y asignación</a:t>
            </a:r>
            <a:endParaRPr lang="en-US" sz="3600" dirty="0"/>
          </a:p>
        </p:txBody>
      </p:sp>
      <p:sp>
        <p:nvSpPr>
          <p:cNvPr id="3" name="Marcelo-espacio-captura"/>
          <p:cNvSpPr/>
          <p:nvPr/>
        </p:nvSpPr>
        <p:spPr>
          <a:xfrm>
            <a:off x="548640" y="13716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 w="15875">
            <a:solidFill>
              <a:srgbClr val="9AA3B2"/>
            </a:solidFill>
            <a:prstDash val="dash"/>
          </a:ln>
        </p:spPr>
      </p:sp>
      <p:pic>
        <p:nvPicPr>
          <p:cNvPr id="4" name="Marcelo-icono-captura" descr="/tmp/claude-1000/-home-emanuel-Descargas/f2f0b511-34ca-4a78-89e4-ce6984c8473f/scratchpad/deck/tmp/cam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926080"/>
            <a:ext cx="822960" cy="822960"/>
          </a:xfrm>
          <a:prstGeom prst="rect">
            <a:avLst/>
          </a:prstGeom>
        </p:spPr>
      </p:pic>
      <p:sp>
        <p:nvSpPr>
          <p:cNvPr id="5" name="Marcelo-texto-captura"/>
          <p:cNvSpPr txBox="1"/>
          <p:nvPr/>
        </p:nvSpPr>
        <p:spPr>
          <a:xfrm>
            <a:off x="822960" y="38862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Captura de la pantalla en funcionamiento (la agrega Marcelo)</a:t>
            </a:r>
            <a:endParaRPr lang="en-US" sz="1400" dirty="0"/>
          </a:p>
        </p:txBody>
      </p:sp>
      <p:sp>
        <p:nvSpPr>
          <p:cNvPr id="6" name="Marcelo-titulo-lista"/>
          <p:cNvSpPr txBox="1"/>
          <p:nvPr/>
        </p:nvSpPr>
        <p:spPr>
          <a:xfrm>
            <a:off x="7635240" y="1371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Qué mostrar</a:t>
            </a:r>
            <a:endParaRPr lang="en-US" sz="2000" dirty="0"/>
          </a:p>
        </p:txBody>
      </p:sp>
      <p:sp>
        <p:nvSpPr>
          <p:cNvPr id="7" name="Marcelo-lista"/>
          <p:cNvSpPr txBox="1"/>
          <p:nvPr/>
        </p:nvSpPr>
        <p:spPr>
          <a:xfrm>
            <a:off x="7635240" y="1874520"/>
            <a:ext cx="3977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P07 Bandeja y evaluación del supervisor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Cálculo de plazos y recálculo con motivo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Asignación con carga por técnico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Conflicto de versión (409)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Emanuel · Atención, conformidad y calidad</a:t>
            </a:r>
            <a:endParaRPr lang="en-US" sz="3600" dirty="0"/>
          </a:p>
        </p:txBody>
      </p:sp>
      <p:sp>
        <p:nvSpPr>
          <p:cNvPr id="3" name="Emanuel-espacio-captura"/>
          <p:cNvSpPr/>
          <p:nvPr/>
        </p:nvSpPr>
        <p:spPr>
          <a:xfrm>
            <a:off x="548640" y="137160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 w="15875">
            <a:solidFill>
              <a:srgbClr val="9AA3B2"/>
            </a:solidFill>
            <a:prstDash val="dash"/>
          </a:ln>
        </p:spPr>
      </p:sp>
      <p:pic>
        <p:nvPicPr>
          <p:cNvPr id="4" name="Emanuel-icono-captura" descr="/tmp/claude-1000/-home-emanuel-Descargas/f2f0b511-34ca-4a78-89e4-ce6984c8473f/scratchpad/deck/tmp/cama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926080"/>
            <a:ext cx="822960" cy="822960"/>
          </a:xfrm>
          <a:prstGeom prst="rect">
            <a:avLst/>
          </a:prstGeom>
        </p:spPr>
      </p:pic>
      <p:sp>
        <p:nvSpPr>
          <p:cNvPr id="5" name="Emanuel-texto-captura"/>
          <p:cNvSpPr txBox="1"/>
          <p:nvPr/>
        </p:nvSpPr>
        <p:spPr>
          <a:xfrm>
            <a:off x="822960" y="38862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Captura de la pantalla en funcionamiento (la agrega Emanuel)</a:t>
            </a:r>
            <a:endParaRPr lang="en-US" sz="1400" dirty="0"/>
          </a:p>
        </p:txBody>
      </p:sp>
      <p:sp>
        <p:nvSpPr>
          <p:cNvPr id="6" name="Emanuel-titulo-lista"/>
          <p:cNvSpPr txBox="1"/>
          <p:nvPr/>
        </p:nvSpPr>
        <p:spPr>
          <a:xfrm>
            <a:off x="7635240" y="1371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Qué mostrar</a:t>
            </a:r>
            <a:endParaRPr lang="en-US" sz="2000" dirty="0"/>
          </a:p>
        </p:txBody>
      </p:sp>
      <p:sp>
        <p:nvSpPr>
          <p:cNvPr id="7" name="Emanuel-lista"/>
          <p:cNvSpPr txBox="1"/>
          <p:nvPr/>
        </p:nvSpPr>
        <p:spPr>
          <a:xfrm>
            <a:off x="7635240" y="1874520"/>
            <a:ext cx="3977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P08 Bandeja del técnico y acciones de P06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Iniciar, resolver, confirmar o reabrir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Historial operativo y cierre a 72 horas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Pruebas del recorrido completo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4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Siguiente paso: fase III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Despliegue con Docker y CI/CD, pruebas de seguridad, políticas de plazos versionadas (HU22) y auditoría (HU23).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sa de Servicios UNMSM">
  <a:themeElements>
    <a:clrScheme name="Mesa de Servicios UNMSM">
      <a:dk1>
        <a:srgbClr val="1C2330"/>
      </a:dk1>
      <a:lt1>
        <a:srgbClr val="FFFFFF"/>
      </a:lt1>
      <a:dk2>
        <a:srgbClr val="1F3A68"/>
      </a:dk2>
      <a:lt2>
        <a:srgbClr val="F1F3F7"/>
      </a:lt2>
      <a:accent1>
        <a:srgbClr val="1F3A68"/>
      </a:accent1>
      <a:accent2>
        <a:srgbClr val="B5862A"/>
      </a:accent2>
      <a:accent3>
        <a:srgbClr val="2457A6"/>
      </a:accent3>
      <a:accent4>
        <a:srgbClr val="1D7444"/>
      </a:accent4>
      <a:accent5>
        <a:srgbClr val="B3261E"/>
      </a:accent5>
      <a:accent6>
        <a:srgbClr val="5A6474"/>
      </a:accent6>
      <a:hlink>
        <a:srgbClr val="2457A6"/>
      </a:hlink>
      <a:folHlink>
        <a:srgbClr val="5A6474"/>
      </a:folHlink>
    </a:clrScheme>
    <a:fontScheme name="Mesa de Servicios UNMS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Mesa de servicios universitarios · Presentación parcial</dc:title>
  <dc:subject>PptxGenJS Presentation</dc:subject>
  <dc:creator>Equipo: David, Alex, Marcelo, Emanuel y Gabriel</dc:creator>
  <cp:lastModifiedBy>Equipo: David, Alex, Marcelo, Emanuel y Gabriel</cp:lastModifiedBy>
  <cp:revision>1</cp:revision>
  <dcterms:created xsi:type="dcterms:W3CDTF">2026-10-17T04:00:01Z</dcterms:created>
  <dcterms:modified xsi:type="dcterms:W3CDTF">2026-10-17T04:00:01Z</dcterms:modified>
</cp:coreProperties>
</file>